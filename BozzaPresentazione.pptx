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Music as a Complex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Quantitative Graph-Based Analysis of Electronic Tracks</a:t>
            </a:r>
          </a:p>
          <a:p>
            <a:r>
              <a:t>Integrating insights from Álvaro Corral, Lucio Arese, and my Audio Intelligence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This project arises from three converging sources: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1. Álvaro Corral:</a:t>
            </a:r>
          </a:p>
          <a:p>
            <a:r>
              <a:rPr dirty="0"/>
              <a:t>   Music behaves like a complex system, but lacks a quantitative framework.</a:t>
            </a:r>
          </a:p>
          <a:p>
            <a:endParaRPr dirty="0"/>
          </a:p>
          <a:p>
            <a:r>
              <a:rPr dirty="0"/>
              <a:t>2. Lucio Arese:</a:t>
            </a:r>
          </a:p>
          <a:p>
            <a:r>
              <a:rPr dirty="0"/>
              <a:t>   Music can be visualized as a trajectory moving through timbral space.</a:t>
            </a:r>
          </a:p>
          <a:p>
            <a:endParaRPr dirty="0"/>
          </a:p>
          <a:p>
            <a:r>
              <a:rPr dirty="0"/>
              <a:t>3. My previous work:</a:t>
            </a:r>
          </a:p>
          <a:p>
            <a:r>
              <a:rPr dirty="0"/>
              <a:t>   A full Audio Intelligence Pipeline capable of converting raw audio into detailed numerical features.</a:t>
            </a:r>
          </a:p>
          <a:p>
            <a:endParaRPr dirty="0"/>
          </a:p>
          <a:p>
            <a:r>
              <a:rPr dirty="0"/>
              <a:t>Together, these reveal a path toward modelling music as a true complex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Music as a Complex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Corral highlights that music exhibits:</a:t>
            </a:r>
          </a:p>
          <a:p>
            <a:r>
              <a:rPr dirty="0"/>
              <a:t>• scaling laws</a:t>
            </a:r>
          </a:p>
          <a:p>
            <a:r>
              <a:rPr dirty="0"/>
              <a:t>• emergent structure</a:t>
            </a:r>
          </a:p>
          <a:p>
            <a:r>
              <a:rPr dirty="0"/>
              <a:t>• balance between repetition and novelty</a:t>
            </a:r>
          </a:p>
          <a:p>
            <a:r>
              <a:rPr dirty="0"/>
              <a:t>• multi-scale organization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Yet there is no universal quantitative method to measure music structurally.</a:t>
            </a:r>
          </a:p>
          <a:p>
            <a:r>
              <a:rPr dirty="0"/>
              <a:t>Electronic music, with its stable timbral roles and rich transitions, is ideal for such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Inspiration from Lucio Arese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Lucio Arese demonstrates that music forms a trajectory within a low-dimensional timbre manifold.</a:t>
            </a:r>
          </a:p>
          <a:p>
            <a:endParaRPr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8F28A48-9DB3-E679-36A1-E77CE4B54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35" y="3250987"/>
            <a:ext cx="6091084" cy="3332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F9B318-DFA3-E97E-D0C2-222D9D05C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77" y="538316"/>
            <a:ext cx="8229600" cy="4525963"/>
          </a:xfrm>
        </p:spPr>
        <p:txBody>
          <a:bodyPr/>
          <a:lstStyle/>
          <a:p>
            <a:r>
              <a:rPr lang="en-US" dirty="0"/>
              <a:t>My project extends his visual intuition with:</a:t>
            </a:r>
          </a:p>
          <a:p>
            <a:r>
              <a:rPr lang="en-US" dirty="0"/>
              <a:t>• formal clustering into states</a:t>
            </a:r>
          </a:p>
          <a:p>
            <a:r>
              <a:rPr lang="en-US" dirty="0"/>
              <a:t>• a graph-based dynamical model</a:t>
            </a:r>
          </a:p>
          <a:p>
            <a:r>
              <a:rPr lang="en-US" dirty="0"/>
              <a:t>• complexity metrics</a:t>
            </a:r>
          </a:p>
          <a:p>
            <a:r>
              <a:rPr lang="en-US" dirty="0"/>
              <a:t>• evolutionary comparisons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6506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Technical Foundation: My Audio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My pipeline provides:</a:t>
            </a:r>
          </a:p>
          <a:p>
            <a:r>
              <a:rPr dirty="0"/>
              <a:t>• automatic downloading and WAV conversion</a:t>
            </a:r>
          </a:p>
          <a:p>
            <a:r>
              <a:rPr dirty="0"/>
              <a:t>• Spotify metadata and lyrics extraction</a:t>
            </a:r>
          </a:p>
          <a:p>
            <a:r>
              <a:rPr dirty="0"/>
              <a:t>• frame-level feature extraction (~</a:t>
            </a:r>
            <a:r>
              <a:rPr lang="it-IT" dirty="0"/>
              <a:t>46</a:t>
            </a:r>
            <a:r>
              <a:rPr dirty="0" err="1"/>
              <a:t>ms</a:t>
            </a:r>
            <a:r>
              <a:rPr dirty="0"/>
              <a:t>):</a:t>
            </a:r>
          </a:p>
          <a:p>
            <a:r>
              <a:rPr dirty="0"/>
              <a:t>  RMS, ZCR, centroid, bandwidth, </a:t>
            </a:r>
            <a:r>
              <a:rPr dirty="0" err="1"/>
              <a:t>rolloff</a:t>
            </a:r>
            <a:r>
              <a:rPr dirty="0"/>
              <a:t>, flatness, flux,</a:t>
            </a:r>
          </a:p>
          <a:p>
            <a:r>
              <a:rPr dirty="0"/>
              <a:t>  spectral contrast, HLCR, MFCCs</a:t>
            </a:r>
          </a:p>
          <a:p>
            <a:endParaRPr dirty="0"/>
          </a:p>
          <a:p>
            <a:r>
              <a:rPr dirty="0"/>
              <a:t>This enables high-resolution modelling of musical dynamics.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Tracks are sampled across:</a:t>
            </a:r>
          </a:p>
          <a:p>
            <a:r>
              <a:rPr dirty="0"/>
              <a:t>• genres (techno, house, ambient, </a:t>
            </a:r>
            <a:r>
              <a:rPr lang="it-IT" dirty="0" err="1"/>
              <a:t>hardtechno</a:t>
            </a:r>
            <a:r>
              <a:rPr lang="it-IT" dirty="0"/>
              <a:t>…</a:t>
            </a:r>
            <a:r>
              <a:rPr dirty="0"/>
              <a:t>)</a:t>
            </a:r>
          </a:p>
          <a:p>
            <a:r>
              <a:rPr dirty="0"/>
              <a:t>• periods (2000–2010</a:t>
            </a:r>
            <a:r>
              <a:rPr lang="it-IT" dirty="0"/>
              <a:t>-</a:t>
            </a:r>
            <a:r>
              <a:rPr dirty="0"/>
              <a:t>2015–</a:t>
            </a:r>
            <a:r>
              <a:rPr lang="it-IT" dirty="0"/>
              <a:t>2020-</a:t>
            </a:r>
            <a:r>
              <a:rPr dirty="0"/>
              <a:t>2025)</a:t>
            </a:r>
          </a:p>
          <a:p>
            <a:r>
              <a:rPr dirty="0"/>
              <a:t>• representative artists</a:t>
            </a:r>
          </a:p>
          <a:p>
            <a:endParaRPr dirty="0"/>
          </a:p>
          <a:p>
            <a:r>
              <a:rPr dirty="0"/>
              <a:t>Total dataset size: ~80–150 tracks</a:t>
            </a:r>
          </a:p>
          <a:p>
            <a:r>
              <a:rPr dirty="0"/>
              <a:t>Each track transformed into thousands of feature vectors.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Audio to Feature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Each frame becomes a feature vector:</a:t>
            </a:r>
          </a:p>
          <a:p>
            <a:endParaRPr dirty="0"/>
          </a:p>
          <a:p>
            <a:r>
              <a:rPr dirty="0" err="1"/>
              <a:t>f_t</a:t>
            </a:r>
            <a:r>
              <a:rPr dirty="0"/>
              <a:t> = [RMS, ZCR, centroid, bandwidth, </a:t>
            </a:r>
            <a:r>
              <a:rPr dirty="0" err="1"/>
              <a:t>rolloff</a:t>
            </a:r>
            <a:r>
              <a:rPr dirty="0"/>
              <a:t>, flatness,</a:t>
            </a:r>
            <a:r>
              <a:rPr lang="it-IT" dirty="0"/>
              <a:t> </a:t>
            </a:r>
            <a:r>
              <a:rPr dirty="0"/>
              <a:t>flux, contrast, HLCR, MFCC1...MFCC13]</a:t>
            </a:r>
          </a:p>
          <a:p>
            <a:endParaRPr dirty="0"/>
          </a:p>
          <a:p>
            <a:r>
              <a:rPr dirty="0"/>
              <a:t>This describes moment-to-moment timbral evolution.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PCA is used in two ways:</a:t>
            </a:r>
          </a:p>
          <a:p>
            <a:r>
              <a:rPr dirty="0"/>
              <a:t>• PCA 3D for visualizing timbral trajectories</a:t>
            </a:r>
          </a:p>
          <a:p>
            <a:r>
              <a:rPr dirty="0"/>
              <a:t>• PCA </a:t>
            </a:r>
            <a:r>
              <a:rPr lang="it-IT" dirty="0"/>
              <a:t>k</a:t>
            </a:r>
            <a:r>
              <a:rPr dirty="0"/>
              <a:t>D for clustering timbral patterns</a:t>
            </a:r>
          </a:p>
          <a:p>
            <a:endParaRPr dirty="0"/>
          </a:p>
          <a:p>
            <a:r>
              <a:rPr dirty="0"/>
              <a:t>This preserves structure while reducing redundancy.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Defining Timbral States (Choosing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Electronic tracks are constructed from ~12 macro timbral roles:</a:t>
            </a:r>
          </a:p>
          <a:p>
            <a:r>
              <a:rPr dirty="0"/>
              <a:t>kick, snare, hats, bass, leads, pads, FX, textures, vocals...</a:t>
            </a:r>
          </a:p>
          <a:p>
            <a:endParaRPr dirty="0"/>
          </a:p>
          <a:p>
            <a:r>
              <a:rPr dirty="0"/>
              <a:t>Each role typically has 2–3 variant timbres.</a:t>
            </a:r>
          </a:p>
          <a:p>
            <a:r>
              <a:rPr dirty="0"/>
              <a:t>This suggests: 12 × 2–3 ≈ 24–36 classes.</a:t>
            </a:r>
          </a:p>
          <a:p>
            <a:endParaRPr dirty="0"/>
          </a:p>
          <a:p>
            <a:r>
              <a:rPr dirty="0"/>
              <a:t>Thus K ≈ 30 is musically grounded, not arbitrary.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use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theorical</a:t>
            </a:r>
            <a:r>
              <a:rPr lang="it-IT" dirty="0"/>
              <a:t> </a:t>
            </a:r>
            <a:r>
              <a:rPr lang="it-IT" dirty="0" err="1"/>
              <a:t>backround</a:t>
            </a:r>
            <a:r>
              <a:rPr lang="it-IT" dirty="0"/>
              <a:t> </a:t>
            </a:r>
            <a:r>
              <a:rPr lang="it-IT" dirty="0" err="1"/>
              <a:t>alltogether</a:t>
            </a:r>
            <a:r>
              <a:rPr lang="it-IT" dirty="0"/>
              <a:t> with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empirical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elbow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or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relevant</a:t>
            </a:r>
            <a:r>
              <a:rPr lang="it-IT" dirty="0"/>
              <a:t> </a:t>
            </a:r>
            <a:r>
              <a:rPr lang="it-IT" dirty="0" err="1"/>
              <a:t>statistic</a:t>
            </a:r>
            <a:r>
              <a:rPr lang="it-IT" dirty="0"/>
              <a:t> to </a:t>
            </a:r>
            <a:r>
              <a:rPr lang="it-IT" dirty="0" err="1"/>
              <a:t>find</a:t>
            </a:r>
            <a:r>
              <a:rPr lang="it-IT" dirty="0"/>
              <a:t> the </a:t>
            </a:r>
            <a:r>
              <a:rPr lang="it-IT" dirty="0" err="1"/>
              <a:t>right</a:t>
            </a:r>
            <a:r>
              <a:rPr lang="it-IT" dirty="0"/>
              <a:t> trade off</a:t>
            </a:r>
            <a:endParaRPr dirty="0"/>
          </a:p>
          <a:p>
            <a:endParaRPr dirty="0"/>
          </a:p>
          <a:p>
            <a:r>
              <a:rPr dirty="0"/>
              <a:t>Each frame is assigned a state:</a:t>
            </a:r>
          </a:p>
          <a:p>
            <a:r>
              <a:rPr dirty="0"/>
              <a:t>(z1, z2, ..., </a:t>
            </a:r>
            <a:r>
              <a:rPr dirty="0" err="1"/>
              <a:t>zT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State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directed weighted graph is constructed:</a:t>
            </a:r>
          </a:p>
          <a:p>
            <a:r>
              <a:t>• nodes = timbral states</a:t>
            </a:r>
          </a:p>
          <a:p>
            <a:r>
              <a:t>• edges = transitions between states</a:t>
            </a:r>
          </a:p>
          <a:p>
            <a:r>
              <a:t>• weights = transition counts</a:t>
            </a:r>
          </a:p>
          <a:p>
            <a:endParaRPr/>
          </a:p>
          <a:p>
            <a:r>
              <a:t>The transition matrix P_ij captures the internal dynamics of the track.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 Metrics from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1. State Entropy:</a:t>
            </a:r>
          </a:p>
          <a:p>
            <a:r>
              <a:rPr dirty="0"/>
              <a:t>   diversity of timbral usage.</a:t>
            </a:r>
          </a:p>
          <a:p>
            <a:endParaRPr dirty="0"/>
          </a:p>
          <a:p>
            <a:r>
              <a:rPr dirty="0"/>
              <a:t>2. Transition Entropy:</a:t>
            </a:r>
          </a:p>
          <a:p>
            <a:r>
              <a:rPr dirty="0"/>
              <a:t>   unpredictability of transitions.</a:t>
            </a:r>
          </a:p>
          <a:p>
            <a:endParaRPr dirty="0"/>
          </a:p>
          <a:p>
            <a:r>
              <a:rPr dirty="0"/>
              <a:t>3. Modularity:</a:t>
            </a:r>
          </a:p>
          <a:p>
            <a:r>
              <a:rPr dirty="0"/>
              <a:t>   structural segmentation emerging from state clusters.</a:t>
            </a:r>
          </a:p>
          <a:p>
            <a:endParaRPr dirty="0"/>
          </a:p>
          <a:p>
            <a:r>
              <a:rPr dirty="0"/>
              <a:t>4. Backbone (Disparity Filter):</a:t>
            </a:r>
          </a:p>
          <a:p>
            <a:r>
              <a:rPr dirty="0"/>
              <a:t>   statistically significant transitions forming the core skeleton.</a:t>
            </a:r>
          </a:p>
          <a:p>
            <a:endParaRPr dirty="0"/>
          </a:p>
          <a:p>
            <a:r>
              <a:rPr dirty="0"/>
              <a:t>These metrics form a reproducible complexity fingerprint.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 from the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• Internal Dynamics: how the track flows through timbral space.</a:t>
            </a:r>
          </a:p>
          <a:p>
            <a:r>
              <a:t>• Complexity: degree of order vs chaos in transitions.</a:t>
            </a:r>
          </a:p>
          <a:p>
            <a:r>
              <a:t>• Structure: emergent sections of the track.</a:t>
            </a:r>
          </a:p>
          <a:p>
            <a:r>
              <a:t>• Essential Backbone: core transitions driving musical evolution.</a:t>
            </a:r>
          </a:p>
          <a:p>
            <a:r>
              <a:t>• Evolution: differences across genres, artists, decades.</a:t>
            </a:r>
          </a:p>
          <a:p>
            <a:r>
              <a:t>• Signature: each track reveals a unique complexity identity.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Metrics allow comparisons between:</a:t>
            </a:r>
          </a:p>
          <a:p>
            <a:r>
              <a:rPr dirty="0"/>
              <a:t>• genres </a:t>
            </a:r>
          </a:p>
          <a:p>
            <a:r>
              <a:rPr dirty="0"/>
              <a:t>• periods</a:t>
            </a:r>
          </a:p>
          <a:p>
            <a:r>
              <a:rPr dirty="0"/>
              <a:t>• artists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This project unifies:</a:t>
            </a:r>
          </a:p>
          <a:p>
            <a:r>
              <a:t>• Corral’s theoretical insights,</a:t>
            </a:r>
          </a:p>
          <a:p>
            <a:r>
              <a:t>• Arese’s visual intuition,</a:t>
            </a:r>
          </a:p>
          <a:p>
            <a:r>
              <a:t>• my audio analysis pipeline,</a:t>
            </a:r>
          </a:p>
          <a:p>
            <a:r>
              <a:t>into a single quantitative framework.</a:t>
            </a:r>
          </a:p>
          <a:p>
            <a:endParaRPr/>
          </a:p>
          <a:p>
            <a:r>
              <a:t>By modelling each track as a dynamical graph of timbral states,</a:t>
            </a:r>
          </a:p>
          <a:p>
            <a:r>
              <a:t>we reveal measurable complexity, structure, and evolution in electronic music.</a:t>
            </a:r>
          </a:p>
          <a:p>
            <a:endParaRPr/>
          </a:p>
          <a:p>
            <a:r>
              <a:t>This approach finally gives music analysis the rigor of complex-systems science.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750</Words>
  <Application>Microsoft Office PowerPoint</Application>
  <PresentationFormat>Presentazione su schermo (4:3)</PresentationFormat>
  <Paragraphs>116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Music as a Complex System</vt:lpstr>
      <vt:lpstr>Origins of the Project</vt:lpstr>
      <vt:lpstr>Why Music as a Complex System?</vt:lpstr>
      <vt:lpstr>Visual Inspiration from Lucio Arese</vt:lpstr>
      <vt:lpstr>Presentazione standard di PowerPoint</vt:lpstr>
      <vt:lpstr>Technical Foundation: My Audio Pipeline</vt:lpstr>
      <vt:lpstr>Dataset Construction</vt:lpstr>
      <vt:lpstr>From Audio to Feature Space</vt:lpstr>
      <vt:lpstr>Dimensionality Reduction</vt:lpstr>
      <vt:lpstr>Defining Timbral States (Choosing K)</vt:lpstr>
      <vt:lpstr>Building the State Graph</vt:lpstr>
      <vt:lpstr>Complexity Metrics from the Graph</vt:lpstr>
      <vt:lpstr>What We Learn from the Graph</vt:lpstr>
      <vt:lpstr>Comparative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Emanuele Iaccarino</cp:lastModifiedBy>
  <cp:revision>2</cp:revision>
  <dcterms:created xsi:type="dcterms:W3CDTF">2013-01-27T09:14:16Z</dcterms:created>
  <dcterms:modified xsi:type="dcterms:W3CDTF">2025-11-17T14:34:25Z</dcterms:modified>
  <cp:category/>
</cp:coreProperties>
</file>